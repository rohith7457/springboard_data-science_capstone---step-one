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 roundtripDataSignature="AMtx7mjdo7FECp685JsX7/4pIVeoAktjN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79" autoAdjust="0"/>
    <p:restoredTop sz="94607" autoAdjust="0"/>
  </p:normalViewPr>
  <p:slideViewPr>
    <p:cSldViewPr snapToGrid="0">
      <p:cViewPr>
        <p:scale>
          <a:sx n="97" d="100"/>
          <a:sy n="97" d="100"/>
        </p:scale>
        <p:origin x="400" y="4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customschemas.google.com/relationships/presentationmetadata" Target="metadata"/><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A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p:cNvGrpSpPr/>
        <p:nvPr/>
      </p:nvGrpSpPr>
      <p:grpSpPr>
        <a:xfrm>
          <a:off x="0" y="0"/>
          <a:ext cx="0" cy="0"/>
          <a:chOff x="0" y="0"/>
          <a:chExt cx="0" cy="0"/>
        </a:xfrm>
      </p:grpSpPr>
      <p:sp>
        <p:nvSpPr>
          <p:cNvPr id="16" name="Google Shape;16;p1:notes"/>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1</a:t>
            </a:fld>
            <a:endParaRPr sz="1800" b="0" i="0" u="none" strike="noStrike" cap="none">
              <a:solidFill>
                <a:srgbClr val="000000"/>
              </a:solidFill>
            </a:endParaRPr>
          </a:p>
        </p:txBody>
      </p:sp>
      <p:sp>
        <p:nvSpPr>
          <p:cNvPr id="17" name="Google Shape;17;p1:notes"/>
          <p:cNvSpPr>
            <a:spLocks noGrp="1" noRot="1" noChangeAspect="1"/>
          </p:cNvSpPr>
          <p:nvPr>
            <p:ph type="sldImg" idx="2"/>
          </p:nvPr>
        </p:nvSpPr>
        <p:spPr>
          <a:xfrm>
            <a:off x="-2319338" y="1265238"/>
            <a:ext cx="112014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AU" b="1"/>
              <a:t>Hypothesis: </a:t>
            </a:r>
            <a:r>
              <a:rPr lang="en-AU" sz="1200" b="0" i="1" u="none" strike="noStrike" cap="none">
                <a:solidFill>
                  <a:srgbClr val="000000"/>
                </a:solidFill>
                <a:latin typeface="Arial"/>
                <a:ea typeface="Arial"/>
                <a:cs typeface="Arial"/>
                <a:sym typeface="Arial"/>
              </a:rPr>
              <a:t>Create a Hypothesis with an emphasis on SMART principles. </a:t>
            </a:r>
            <a:r>
              <a:rPr lang="en-AU" sz="1200" b="1" i="1" u="none" strike="noStrike" cap="none">
                <a:solidFill>
                  <a:srgbClr val="000000"/>
                </a:solidFill>
                <a:latin typeface="Arial"/>
                <a:ea typeface="Arial"/>
                <a:cs typeface="Arial"/>
                <a:sym typeface="Arial"/>
              </a:rPr>
              <a:t>(</a:t>
            </a:r>
            <a:r>
              <a:rPr lang="en-AU" sz="1200" b="1" i="1"/>
              <a:t>S – Specific, M – Measurable, A – Achievable, R – Realistic, T – Timebound). </a:t>
            </a:r>
            <a:r>
              <a:rPr lang="en-AU" sz="1200" b="0" i="0"/>
              <a:t>If you cannot do this, you </a:t>
            </a:r>
            <a:r>
              <a:rPr lang="en-AU" sz="1200" b="1" i="0"/>
              <a:t>do not</a:t>
            </a:r>
            <a:r>
              <a:rPr lang="en-AU" sz="1200" b="0" i="0"/>
              <a:t> have a good grasp on the business problem.</a:t>
            </a:r>
            <a:endParaRPr b="1"/>
          </a:p>
          <a:p>
            <a:pPr marL="0" lvl="0" indent="0" algn="l" rtl="0">
              <a:lnSpc>
                <a:spcPct val="100000"/>
              </a:lnSpc>
              <a:spcBef>
                <a:spcPts val="0"/>
              </a:spcBef>
              <a:spcAft>
                <a:spcPts val="0"/>
              </a:spcAft>
              <a:buSzPts val="1400"/>
              <a:buNone/>
            </a:pPr>
            <a:endParaRPr/>
          </a:p>
          <a:p>
            <a:pPr marL="0" marR="0" lvl="0" indent="0" algn="l" rtl="0">
              <a:lnSpc>
                <a:spcPct val="100000"/>
              </a:lnSpc>
              <a:spcBef>
                <a:spcPts val="0"/>
              </a:spcBef>
              <a:spcAft>
                <a:spcPts val="0"/>
              </a:spcAft>
              <a:buClr>
                <a:srgbClr val="000000"/>
              </a:buClr>
              <a:buSzPts val="1400"/>
              <a:buFont typeface="Arial"/>
              <a:buNone/>
            </a:pPr>
            <a:r>
              <a:rPr lang="en-AU" b="1"/>
              <a:t>Context: </a:t>
            </a:r>
            <a:r>
              <a:rPr lang="en-AU" sz="1200"/>
              <a:t>With context, we have </a:t>
            </a:r>
            <a:r>
              <a:rPr lang="en-AU" sz="1200" b="1" u="sng"/>
              <a:t>clearly identified the problem at hand </a:t>
            </a:r>
            <a:r>
              <a:rPr lang="en-AU" sz="1200"/>
              <a:t>and have elucidated on how our initiative may solve this problem, alongside the commercial implications this will have on the business. </a:t>
            </a:r>
            <a:endParaRPr/>
          </a:p>
          <a:p>
            <a:pPr marL="0" lvl="0" indent="0" algn="l" rtl="0">
              <a:lnSpc>
                <a:spcPct val="100000"/>
              </a:lnSpc>
              <a:spcBef>
                <a:spcPts val="0"/>
              </a:spcBef>
              <a:spcAft>
                <a:spcPts val="0"/>
              </a:spcAft>
              <a:buSzPts val="1400"/>
              <a:buNone/>
            </a:pPr>
            <a:endParaRPr b="1"/>
          </a:p>
          <a:p>
            <a:pPr marL="0" lvl="0" indent="0" algn="l" rtl="0">
              <a:lnSpc>
                <a:spcPct val="100000"/>
              </a:lnSpc>
              <a:spcBef>
                <a:spcPts val="0"/>
              </a:spcBef>
              <a:spcAft>
                <a:spcPts val="0"/>
              </a:spcAft>
              <a:buSzPts val="1400"/>
              <a:buNone/>
            </a:pPr>
            <a:r>
              <a:rPr lang="en-AU" b="1"/>
              <a:t>Criteria for Success</a:t>
            </a:r>
            <a:r>
              <a:rPr lang="en-AU" b="0"/>
              <a:t>: Clearly defining the criteria for success ensures that the scope of your work is clearly defined and understood. Otherwise, if this isn’t defined – your work will never end which will result in mismatched expectations.</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Scope of Solution Space: </a:t>
            </a:r>
            <a:r>
              <a:rPr lang="en-AU" b="0"/>
              <a:t>Scoping out the solution space ensures that the business initiative is SPECIFIC for a certain segment or area. This prevents solutions that have been developed being scaled and applied for all other business units that the solution may not be responsible or scalable for.</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Constraints within Solution Space: </a:t>
            </a:r>
            <a:r>
              <a:rPr lang="en-AU" b="0"/>
              <a:t>Looking forward, what are the foreseeable problems we are likely to encounter? Could this be stakeholder resistance? Could this be we don’t have access to the right data? </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Stakeholders to provide key insight: </a:t>
            </a:r>
            <a:r>
              <a:rPr lang="en-AU" b="0"/>
              <a:t>Who are the people I need to speak to, to get the answers I need for my data analysis?</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What key data sources are required</a:t>
            </a:r>
            <a:r>
              <a:rPr lang="en-AU" b="0"/>
              <a:t>?</a:t>
            </a:r>
            <a:endParaRPr/>
          </a:p>
          <a:p>
            <a:pPr marL="0" lvl="0" indent="0" algn="l" rtl="0">
              <a:lnSpc>
                <a:spcPct val="100000"/>
              </a:lnSpc>
              <a:spcBef>
                <a:spcPts val="0"/>
              </a:spcBef>
              <a:spcAft>
                <a:spcPts val="0"/>
              </a:spcAft>
              <a:buSzPts val="1400"/>
              <a:buNone/>
            </a:pPr>
            <a:r>
              <a:rPr lang="en-AU" b="0"/>
              <a:t>Based off my discussions with the key stakeholders – can we clearly list out all the data sources we need so we can make a highly targeted request as opposed to a scatter-gun approach where we ask for a bit of everything?</a:t>
            </a:r>
            <a:endParaRPr/>
          </a:p>
          <a:p>
            <a:pPr marL="0" lvl="0" indent="0" algn="l" rtl="0">
              <a:lnSpc>
                <a:spcPct val="100000"/>
              </a:lnSpc>
              <a:spcBef>
                <a:spcPts val="0"/>
              </a:spcBef>
              <a:spcAft>
                <a:spcPts val="0"/>
              </a:spcAft>
              <a:buSzPts val="1400"/>
              <a:buNone/>
            </a:pPr>
            <a:endParaRPr b="1"/>
          </a:p>
          <a:p>
            <a:pPr marL="0" lvl="0" indent="0" algn="l" rtl="0">
              <a:lnSpc>
                <a:spcPct val="100000"/>
              </a:lnSpc>
              <a:spcBef>
                <a:spcPts val="0"/>
              </a:spcBef>
              <a:spcAft>
                <a:spcPts val="0"/>
              </a:spcAft>
              <a:buSzPts val="1400"/>
              <a:buNone/>
            </a:pPr>
            <a:endParaRPr b="1"/>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74945" y="234863"/>
            <a:ext cx="8794113" cy="29832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8298444" y="37255"/>
            <a:ext cx="670614" cy="1247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816"/>
              <a:buFont typeface="Arial"/>
              <a:buNone/>
            </a:pPr>
            <a:endParaRPr sz="816" b="0" i="0" u="none" strike="noStrike" cap="none">
              <a:solidFill>
                <a:srgbClr val="000000"/>
              </a:solidFill>
              <a:latin typeface="Arial"/>
              <a:ea typeface="Arial"/>
              <a:cs typeface="Arial"/>
              <a:sym typeface="Arial"/>
            </a:endParaRPr>
          </a:p>
        </p:txBody>
      </p:sp>
      <p:sp>
        <p:nvSpPr>
          <p:cNvPr id="11" name="Google Shape;11;p2"/>
          <p:cNvSpPr txBox="1">
            <a:spLocks noGrp="1"/>
          </p:cNvSpPr>
          <p:nvPr>
            <p:ph type="body" idx="1"/>
          </p:nvPr>
        </p:nvSpPr>
        <p:spPr>
          <a:xfrm>
            <a:off x="2343099" y="2570857"/>
            <a:ext cx="4389768" cy="1256112"/>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32" b="0" i="0" u="none" strike="noStrike" cap="none">
                <a:solidFill>
                  <a:schemeClr val="dk1"/>
                </a:solidFill>
                <a:latin typeface="Arial"/>
                <a:ea typeface="Arial"/>
                <a:cs typeface="Arial"/>
                <a:sym typeface="Arial"/>
              </a:defRPr>
            </a:lvl1pPr>
            <a:lvl2pPr marL="914400" marR="0" lvl="1" indent="-358140" algn="l" rtl="0">
              <a:lnSpc>
                <a:spcPct val="100000"/>
              </a:lnSpc>
              <a:spcBef>
                <a:spcPts val="0"/>
              </a:spcBef>
              <a:spcAft>
                <a:spcPts val="0"/>
              </a:spcAft>
              <a:buClr>
                <a:schemeClr val="dk2"/>
              </a:buClr>
              <a:buSzPts val="2040"/>
              <a:buFont typeface="Arial"/>
              <a:buChar char="▪"/>
              <a:defRPr sz="1632" b="0" i="0" u="none" strike="noStrike" cap="none">
                <a:solidFill>
                  <a:schemeClr val="dk1"/>
                </a:solidFill>
                <a:latin typeface="Arial"/>
                <a:ea typeface="Arial"/>
                <a:cs typeface="Arial"/>
                <a:sym typeface="Arial"/>
              </a:defRPr>
            </a:lvl2pPr>
            <a:lvl3pPr marL="1371600" marR="0" lvl="2" indent="-352933" algn="l" rtl="0">
              <a:lnSpc>
                <a:spcPct val="100000"/>
              </a:lnSpc>
              <a:spcBef>
                <a:spcPts val="0"/>
              </a:spcBef>
              <a:spcAft>
                <a:spcPts val="0"/>
              </a:spcAft>
              <a:buClr>
                <a:schemeClr val="dk2"/>
              </a:buClr>
              <a:buSzPts val="1958"/>
              <a:buFont typeface="Arial"/>
              <a:buChar char="–"/>
              <a:defRPr sz="1632" b="0" i="0" u="none" strike="noStrike" cap="none">
                <a:solidFill>
                  <a:schemeClr val="dk1"/>
                </a:solidFill>
                <a:latin typeface="Arial"/>
                <a:ea typeface="Arial"/>
                <a:cs typeface="Arial"/>
                <a:sym typeface="Arial"/>
              </a:defRPr>
            </a:lvl3pPr>
            <a:lvl4pPr marL="1828800" marR="0" lvl="3" indent="-352933" algn="l" rtl="0">
              <a:lnSpc>
                <a:spcPct val="100000"/>
              </a:lnSpc>
              <a:spcBef>
                <a:spcPts val="0"/>
              </a:spcBef>
              <a:spcAft>
                <a:spcPts val="0"/>
              </a:spcAft>
              <a:buClr>
                <a:schemeClr val="dk2"/>
              </a:buClr>
              <a:buSzPts val="1958"/>
              <a:buFont typeface="Arial"/>
              <a:buChar char="▫"/>
              <a:defRPr sz="1632" b="0" i="0" u="none" strike="noStrike" cap="none">
                <a:solidFill>
                  <a:schemeClr val="dk1"/>
                </a:solidFill>
                <a:latin typeface="Arial"/>
                <a:ea typeface="Arial"/>
                <a:cs typeface="Arial"/>
                <a:sym typeface="Arial"/>
              </a:defRPr>
            </a:lvl4pPr>
            <a:lvl5pPr marL="2286000" marR="0" lvl="4"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5pPr>
            <a:lvl6pPr marL="2743200" marR="0" lvl="5"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6pPr>
            <a:lvl7pPr marL="3200400" marR="0" lvl="6"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7pPr>
            <a:lvl8pPr marL="3657600" marR="0" lvl="7" indent="-320802"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8pPr>
            <a:lvl9pPr marL="4114800" marR="0" lvl="8" indent="-320802"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9pPr>
          </a:lstStyle>
          <a:p>
            <a:endParaRPr/>
          </a:p>
        </p:txBody>
      </p:sp>
      <p:sp>
        <p:nvSpPr>
          <p:cNvPr id="12" name="Google Shape;12;p2"/>
          <p:cNvSpPr txBox="1">
            <a:spLocks noGrp="1"/>
          </p:cNvSpPr>
          <p:nvPr>
            <p:ph type="title"/>
          </p:nvPr>
        </p:nvSpPr>
        <p:spPr>
          <a:xfrm>
            <a:off x="174945" y="234863"/>
            <a:ext cx="8794113" cy="298327"/>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939"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20" name="Google Shape;20;p1"/>
          <p:cNvSpPr/>
          <p:nvPr/>
        </p:nvSpPr>
        <p:spPr>
          <a:xfrm>
            <a:off x="137949" y="1576013"/>
            <a:ext cx="4344156" cy="4681063"/>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28"/>
              <a:buFont typeface="Arial"/>
              <a:buNone/>
            </a:pPr>
            <a:endParaRPr sz="1428" b="0" i="0" u="none" strike="noStrike" cap="none">
              <a:solidFill>
                <a:srgbClr val="000000"/>
              </a:solidFill>
              <a:sym typeface="Arial"/>
            </a:endParaRPr>
          </a:p>
        </p:txBody>
      </p:sp>
      <p:sp>
        <p:nvSpPr>
          <p:cNvPr id="21" name="Google Shape;21;p1"/>
          <p:cNvSpPr/>
          <p:nvPr/>
        </p:nvSpPr>
        <p:spPr>
          <a:xfrm>
            <a:off x="4587388" y="1576013"/>
            <a:ext cx="4344156" cy="4681063"/>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28"/>
              <a:buFont typeface="Arial"/>
              <a:buNone/>
            </a:pPr>
            <a:endParaRPr sz="1428" b="0" i="0" u="none" strike="noStrike" cap="none">
              <a:solidFill>
                <a:srgbClr val="000000"/>
              </a:solidFill>
              <a:sym typeface="Arial"/>
            </a:endParaRPr>
          </a:p>
        </p:txBody>
      </p:sp>
      <p:sp>
        <p:nvSpPr>
          <p:cNvPr id="22" name="Google Shape;22;p1"/>
          <p:cNvSpPr/>
          <p:nvPr/>
        </p:nvSpPr>
        <p:spPr>
          <a:xfrm>
            <a:off x="218936" y="1618127"/>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sym typeface="Arial"/>
              </a:rPr>
              <a:t>1</a:t>
            </a:r>
            <a:endParaRPr sz="1428" b="0" i="0" u="none" strike="noStrike" cap="none">
              <a:solidFill>
                <a:schemeClr val="lt1"/>
              </a:solidFill>
              <a:sym typeface="Arial"/>
            </a:endParaRPr>
          </a:p>
        </p:txBody>
      </p:sp>
      <p:sp>
        <p:nvSpPr>
          <p:cNvPr id="23" name="Google Shape;23;p1"/>
          <p:cNvSpPr/>
          <p:nvPr/>
        </p:nvSpPr>
        <p:spPr>
          <a:xfrm>
            <a:off x="4668375" y="1618127"/>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sym typeface="Arial"/>
              </a:rPr>
              <a:t>4</a:t>
            </a:r>
            <a:endParaRPr sz="1400" b="0" i="0" u="none" strike="noStrike" cap="none">
              <a:solidFill>
                <a:srgbClr val="000000"/>
              </a:solidFill>
              <a:sym typeface="Arial"/>
            </a:endParaRPr>
          </a:p>
        </p:txBody>
      </p:sp>
      <p:sp>
        <p:nvSpPr>
          <p:cNvPr id="24" name="Google Shape;24;p1"/>
          <p:cNvSpPr/>
          <p:nvPr/>
        </p:nvSpPr>
        <p:spPr>
          <a:xfrm>
            <a:off x="601195" y="1650181"/>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sym typeface="Arial"/>
              </a:rPr>
              <a:t>Context</a:t>
            </a:r>
            <a:endParaRPr sz="1400" b="0" i="0" u="none" strike="noStrike" cap="none">
              <a:solidFill>
                <a:srgbClr val="000000"/>
              </a:solidFill>
              <a:sym typeface="Arial"/>
            </a:endParaRPr>
          </a:p>
        </p:txBody>
      </p:sp>
      <p:sp>
        <p:nvSpPr>
          <p:cNvPr id="25" name="Google Shape;25;p1"/>
          <p:cNvSpPr/>
          <p:nvPr/>
        </p:nvSpPr>
        <p:spPr>
          <a:xfrm>
            <a:off x="5050634" y="1650181"/>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sym typeface="Arial"/>
              </a:rPr>
              <a:t>Constraints within solution space</a:t>
            </a:r>
            <a:endParaRPr sz="1400" b="0" i="0" u="none" strike="noStrike" cap="none">
              <a:solidFill>
                <a:srgbClr val="000000"/>
              </a:solidFill>
              <a:sym typeface="Arial"/>
            </a:endParaRPr>
          </a:p>
        </p:txBody>
      </p:sp>
      <p:sp>
        <p:nvSpPr>
          <p:cNvPr id="26" name="Google Shape;26;p1"/>
          <p:cNvSpPr/>
          <p:nvPr/>
        </p:nvSpPr>
        <p:spPr>
          <a:xfrm>
            <a:off x="4668375" y="3207096"/>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sym typeface="Arial"/>
              </a:rPr>
              <a:t>5</a:t>
            </a:r>
            <a:endParaRPr sz="1400" b="0" i="0" u="none" strike="noStrike" cap="none">
              <a:solidFill>
                <a:srgbClr val="000000"/>
              </a:solidFill>
              <a:sym typeface="Arial"/>
            </a:endParaRPr>
          </a:p>
        </p:txBody>
      </p:sp>
      <p:sp>
        <p:nvSpPr>
          <p:cNvPr id="27" name="Google Shape;27;p1"/>
          <p:cNvSpPr/>
          <p:nvPr/>
        </p:nvSpPr>
        <p:spPr>
          <a:xfrm>
            <a:off x="218936" y="3207096"/>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sym typeface="Arial"/>
              </a:rPr>
              <a:t>2</a:t>
            </a:r>
            <a:endParaRPr sz="1400" b="0" i="0" u="none" strike="noStrike" cap="none">
              <a:solidFill>
                <a:srgbClr val="000000"/>
              </a:solidFill>
              <a:sym typeface="Arial"/>
            </a:endParaRPr>
          </a:p>
        </p:txBody>
      </p:sp>
      <p:sp>
        <p:nvSpPr>
          <p:cNvPr id="28" name="Google Shape;28;p1"/>
          <p:cNvSpPr/>
          <p:nvPr/>
        </p:nvSpPr>
        <p:spPr>
          <a:xfrm>
            <a:off x="601195" y="3239152"/>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dk1"/>
                </a:solidFill>
                <a:sym typeface="Arial"/>
              </a:rPr>
              <a:t>Criteria for success</a:t>
            </a:r>
            <a:endParaRPr sz="1400" b="0" i="0" u="none" strike="noStrike" cap="none" dirty="0">
              <a:solidFill>
                <a:srgbClr val="000000"/>
              </a:solidFill>
              <a:sym typeface="Arial"/>
            </a:endParaRPr>
          </a:p>
        </p:txBody>
      </p:sp>
      <p:sp>
        <p:nvSpPr>
          <p:cNvPr id="29" name="Google Shape;29;p1"/>
          <p:cNvSpPr/>
          <p:nvPr/>
        </p:nvSpPr>
        <p:spPr>
          <a:xfrm>
            <a:off x="5050634" y="3239152"/>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dk1"/>
                </a:solidFill>
                <a:sym typeface="Arial"/>
              </a:rPr>
              <a:t>Stakeholders to provide key insight</a:t>
            </a:r>
          </a:p>
          <a:p>
            <a:pPr marL="0" marR="0" lvl="0" indent="0" algn="l" rtl="0">
              <a:lnSpc>
                <a:spcPct val="100000"/>
              </a:lnSpc>
              <a:spcBef>
                <a:spcPts val="0"/>
              </a:spcBef>
              <a:spcAft>
                <a:spcPts val="0"/>
              </a:spcAft>
              <a:buClr>
                <a:srgbClr val="000000"/>
              </a:buClr>
              <a:buSzPts val="1428"/>
              <a:buFont typeface="Arial"/>
              <a:buNone/>
            </a:pPr>
            <a:endParaRPr sz="1400" b="0" i="0" u="none" strike="noStrike" cap="none" dirty="0">
              <a:solidFill>
                <a:srgbClr val="000000"/>
              </a:solidFill>
              <a:sym typeface="Arial"/>
            </a:endParaRPr>
          </a:p>
        </p:txBody>
      </p:sp>
      <p:sp>
        <p:nvSpPr>
          <p:cNvPr id="30" name="Google Shape;30;p1"/>
          <p:cNvSpPr/>
          <p:nvPr/>
        </p:nvSpPr>
        <p:spPr>
          <a:xfrm>
            <a:off x="218936" y="4797685"/>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sym typeface="Arial"/>
              </a:rPr>
              <a:t>3</a:t>
            </a:r>
            <a:endParaRPr sz="1400" b="0" i="0" u="none" strike="noStrike" cap="none">
              <a:solidFill>
                <a:srgbClr val="000000"/>
              </a:solidFill>
              <a:sym typeface="Arial"/>
            </a:endParaRPr>
          </a:p>
        </p:txBody>
      </p:sp>
      <p:sp>
        <p:nvSpPr>
          <p:cNvPr id="31" name="Google Shape;31;p1"/>
          <p:cNvSpPr/>
          <p:nvPr/>
        </p:nvSpPr>
        <p:spPr>
          <a:xfrm>
            <a:off x="4668375" y="4797685"/>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sym typeface="Arial"/>
              </a:rPr>
              <a:t>6</a:t>
            </a:r>
            <a:endParaRPr sz="1400" b="0" i="0" u="none" strike="noStrike" cap="none">
              <a:solidFill>
                <a:srgbClr val="000000"/>
              </a:solidFill>
              <a:sym typeface="Arial"/>
            </a:endParaRPr>
          </a:p>
        </p:txBody>
      </p:sp>
      <p:sp>
        <p:nvSpPr>
          <p:cNvPr id="32" name="Google Shape;32;p1"/>
          <p:cNvSpPr/>
          <p:nvPr/>
        </p:nvSpPr>
        <p:spPr>
          <a:xfrm>
            <a:off x="601195" y="4831972"/>
            <a:ext cx="3597454" cy="2197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sym typeface="Arial"/>
              </a:rPr>
              <a:t>Scope of solution space </a:t>
            </a:r>
            <a:endParaRPr sz="1400" b="0" i="0" u="none" strike="noStrike" cap="none">
              <a:solidFill>
                <a:srgbClr val="000000"/>
              </a:solidFill>
              <a:sym typeface="Arial"/>
            </a:endParaRPr>
          </a:p>
        </p:txBody>
      </p:sp>
      <p:sp>
        <p:nvSpPr>
          <p:cNvPr id="33" name="Google Shape;33;p1"/>
          <p:cNvSpPr/>
          <p:nvPr/>
        </p:nvSpPr>
        <p:spPr>
          <a:xfrm>
            <a:off x="5050634" y="4829741"/>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a:solidFill>
                  <a:schemeClr val="dk1"/>
                </a:solidFill>
              </a:rPr>
              <a:t>Key</a:t>
            </a:r>
            <a:r>
              <a:rPr lang="en-AU" sz="1428" b="0" i="0" u="none" strike="noStrike" cap="none">
                <a:solidFill>
                  <a:schemeClr val="dk1"/>
                </a:solidFill>
                <a:sym typeface="Arial"/>
              </a:rPr>
              <a:t> data sources </a:t>
            </a:r>
            <a:endParaRPr sz="1400" b="0" i="0" u="none" strike="noStrike" cap="none">
              <a:solidFill>
                <a:srgbClr val="000000"/>
              </a:solidFill>
              <a:sym typeface="Arial"/>
            </a:endParaRPr>
          </a:p>
        </p:txBody>
      </p:sp>
      <p:sp>
        <p:nvSpPr>
          <p:cNvPr id="34" name="Google Shape;34;p1"/>
          <p:cNvSpPr txBox="1"/>
          <p:nvPr/>
        </p:nvSpPr>
        <p:spPr>
          <a:xfrm>
            <a:off x="143108" y="1964976"/>
            <a:ext cx="4324418" cy="1245854"/>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None/>
            </a:pPr>
            <a:r>
              <a:rPr lang="en-AU" sz="1000" dirty="0"/>
              <a:t>Big Mountain Resort, a ski resort located in Montana. It offers spectacular views of Glacier National Park and Flathead National Forest, with access to 105 trails. Big Mountain Resort has recently installed an additional chair-lift to help increase the distribution of visitors across the mountain. This additional increase operating costs by $1,540,000 this season.</a:t>
            </a:r>
          </a:p>
          <a:p>
            <a:pPr lvl="0" algn="just"/>
            <a:r>
              <a:rPr lang="en-US" sz="1000" dirty="0"/>
              <a:t>The business wants some guidance on how to select a better value for their ticket price. </a:t>
            </a:r>
            <a:endParaRPr sz="1000" dirty="0"/>
          </a:p>
        </p:txBody>
      </p:sp>
      <p:sp>
        <p:nvSpPr>
          <p:cNvPr id="35" name="Google Shape;35;p1"/>
          <p:cNvSpPr txBox="1"/>
          <p:nvPr/>
        </p:nvSpPr>
        <p:spPr>
          <a:xfrm>
            <a:off x="143108" y="3538874"/>
            <a:ext cx="4324418" cy="1410643"/>
          </a:xfrm>
          <a:prstGeom prst="rect">
            <a:avLst/>
          </a:prstGeom>
          <a:noFill/>
          <a:ln>
            <a:noFill/>
          </a:ln>
        </p:spPr>
        <p:txBody>
          <a:bodyPr spcFirstLastPara="1" wrap="square" lIns="91425" tIns="45700" rIns="91425" bIns="45700" anchor="t" anchorCtr="0">
            <a:noAutofit/>
          </a:bodyPr>
          <a:lstStyle/>
          <a:p>
            <a:pPr lvl="0"/>
            <a:r>
              <a:rPr lang="en-US" sz="1100" dirty="0"/>
              <a:t>They are also considering several changes that they hope will either cut costs without undermining the ticket price or will support an even higher ticket price.</a:t>
            </a:r>
            <a:endParaRPr sz="1071" b="1" i="0" u="none" strike="noStrike" cap="none" dirty="0">
              <a:solidFill>
                <a:srgbClr val="000000"/>
              </a:solidFill>
              <a:sym typeface="Arial"/>
            </a:endParaRPr>
          </a:p>
        </p:txBody>
      </p:sp>
      <p:sp>
        <p:nvSpPr>
          <p:cNvPr id="36" name="Google Shape;36;p1"/>
          <p:cNvSpPr txBox="1"/>
          <p:nvPr/>
        </p:nvSpPr>
        <p:spPr>
          <a:xfrm>
            <a:off x="186842" y="5184805"/>
            <a:ext cx="4324418" cy="751488"/>
          </a:xfrm>
          <a:prstGeom prst="rect">
            <a:avLst/>
          </a:prstGeom>
          <a:noFill/>
          <a:ln>
            <a:noFill/>
          </a:ln>
        </p:spPr>
        <p:txBody>
          <a:bodyPr spcFirstLastPara="1" wrap="square" lIns="91425" tIns="45700" rIns="91425" bIns="45700" anchor="t" anchorCtr="0">
            <a:noAutofit/>
          </a:bodyPr>
          <a:lstStyle/>
          <a:p>
            <a:pPr lvl="0" algn="just"/>
            <a:r>
              <a:rPr lang="en-US" sz="1000" dirty="0"/>
              <a:t>There's a suspicion that Big Mountain is not capitalizing on its facilities as much as it could. Basing their pricing on just the market average does not provide the business with a good sense of how important some facilities are compared to others, This hampers investment strategy.</a:t>
            </a:r>
            <a:endParaRPr sz="1000" b="0" i="0" u="none" strike="noStrike" cap="none" dirty="0">
              <a:solidFill>
                <a:srgbClr val="000000"/>
              </a:solidFill>
              <a:sym typeface="Arial"/>
            </a:endParaRPr>
          </a:p>
        </p:txBody>
      </p:sp>
      <p:sp>
        <p:nvSpPr>
          <p:cNvPr id="37" name="Google Shape;37;p1"/>
          <p:cNvSpPr txBox="1"/>
          <p:nvPr/>
        </p:nvSpPr>
        <p:spPr>
          <a:xfrm>
            <a:off x="4558232" y="1963919"/>
            <a:ext cx="4324418" cy="1081065"/>
          </a:xfrm>
          <a:prstGeom prst="rect">
            <a:avLst/>
          </a:prstGeom>
          <a:noFill/>
          <a:ln>
            <a:noFill/>
          </a:ln>
        </p:spPr>
        <p:txBody>
          <a:bodyPr spcFirstLastPara="1" wrap="square" lIns="91425" tIns="45700" rIns="91425" bIns="45700" anchor="t" anchorCtr="0">
            <a:noAutofit/>
          </a:bodyPr>
          <a:lstStyle/>
          <a:p>
            <a:pPr marL="228600" marR="0" lvl="0" indent="-228600" algn="just" rtl="0">
              <a:lnSpc>
                <a:spcPct val="100000"/>
              </a:lnSpc>
              <a:spcBef>
                <a:spcPts val="0"/>
              </a:spcBef>
              <a:spcAft>
                <a:spcPts val="0"/>
              </a:spcAft>
              <a:buAutoNum type="arabicParenR"/>
            </a:pPr>
            <a:r>
              <a:rPr lang="en-AU" sz="1070" dirty="0"/>
              <a:t>If we Increase the ticket price, we may lose some customers who wants to go near competitors who offers lower ticket price.</a:t>
            </a:r>
          </a:p>
          <a:p>
            <a:pPr marL="228600" marR="0" lvl="0" indent="-228600" algn="just" rtl="0">
              <a:lnSpc>
                <a:spcPct val="100000"/>
              </a:lnSpc>
              <a:spcBef>
                <a:spcPts val="0"/>
              </a:spcBef>
              <a:spcAft>
                <a:spcPts val="0"/>
              </a:spcAft>
              <a:buAutoNum type="arabicParenR"/>
            </a:pPr>
            <a:r>
              <a:rPr lang="en-AU" sz="1070" i="0" u="none" strike="noStrike" cap="none" dirty="0">
                <a:solidFill>
                  <a:srgbClr val="000000"/>
                </a:solidFill>
                <a:sym typeface="Arial"/>
              </a:rPr>
              <a:t>If we </a:t>
            </a:r>
            <a:r>
              <a:rPr lang="en-AU" sz="1070" dirty="0"/>
              <a:t>are not increasing our ticket price, it can be difficult to cover our chair-lift cost.</a:t>
            </a:r>
          </a:p>
          <a:p>
            <a:pPr marL="228600" marR="0" lvl="0" indent="-228600" algn="just" rtl="0">
              <a:lnSpc>
                <a:spcPct val="100000"/>
              </a:lnSpc>
              <a:spcBef>
                <a:spcPts val="0"/>
              </a:spcBef>
              <a:spcAft>
                <a:spcPts val="0"/>
              </a:spcAft>
              <a:buAutoNum type="arabicParenR"/>
            </a:pPr>
            <a:r>
              <a:rPr lang="en-AU" sz="1070" i="0" u="none" strike="noStrike" cap="none" dirty="0">
                <a:solidFill>
                  <a:srgbClr val="000000"/>
                </a:solidFill>
                <a:sym typeface="Arial"/>
              </a:rPr>
              <a:t>So, we </a:t>
            </a:r>
            <a:r>
              <a:rPr lang="en-AU" sz="1070" dirty="0"/>
              <a:t>can offer a little over our competitors. </a:t>
            </a:r>
            <a:endParaRPr lang="en-AU" sz="1070" i="0" u="none" strike="noStrike" cap="none" dirty="0">
              <a:solidFill>
                <a:srgbClr val="000000"/>
              </a:solidFill>
              <a:sym typeface="Arial"/>
            </a:endParaRPr>
          </a:p>
          <a:p>
            <a:pPr marL="0" marR="0" lvl="0" indent="0" algn="l" rtl="0">
              <a:lnSpc>
                <a:spcPct val="100000"/>
              </a:lnSpc>
              <a:spcBef>
                <a:spcPts val="0"/>
              </a:spcBef>
              <a:spcAft>
                <a:spcPts val="0"/>
              </a:spcAft>
              <a:buNone/>
            </a:pPr>
            <a:endParaRPr sz="1070" b="1" i="0" u="none" strike="noStrike" cap="none" dirty="0">
              <a:solidFill>
                <a:srgbClr val="000000"/>
              </a:solidFill>
              <a:sym typeface="Arial"/>
            </a:endParaRPr>
          </a:p>
        </p:txBody>
      </p:sp>
      <p:sp>
        <p:nvSpPr>
          <p:cNvPr id="38" name="Google Shape;38;p1"/>
          <p:cNvSpPr txBox="1"/>
          <p:nvPr/>
        </p:nvSpPr>
        <p:spPr>
          <a:xfrm>
            <a:off x="4590928" y="5085174"/>
            <a:ext cx="4324418" cy="10810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100" i="0" u="none" strike="noStrike" cap="none" dirty="0">
                <a:solidFill>
                  <a:srgbClr val="000000"/>
                </a:solidFill>
                <a:sym typeface="Arial"/>
              </a:rPr>
              <a:t>CSV file – Contain all the data.</a:t>
            </a:r>
          </a:p>
          <a:p>
            <a:pPr marL="0" marR="0" lvl="0" indent="0" algn="l" rtl="0">
              <a:lnSpc>
                <a:spcPct val="100000"/>
              </a:lnSpc>
              <a:spcBef>
                <a:spcPts val="0"/>
              </a:spcBef>
              <a:spcAft>
                <a:spcPts val="0"/>
              </a:spcAft>
              <a:buNone/>
            </a:pPr>
            <a:endParaRPr lang="en-US" sz="1100" i="0" u="none" strike="noStrike" cap="none" dirty="0">
              <a:solidFill>
                <a:srgbClr val="000000"/>
              </a:solidFill>
              <a:sym typeface="Arial"/>
            </a:endParaRPr>
          </a:p>
        </p:txBody>
      </p:sp>
      <p:sp>
        <p:nvSpPr>
          <p:cNvPr id="39" name="Google Shape;39;p1"/>
          <p:cNvSpPr/>
          <p:nvPr/>
        </p:nvSpPr>
        <p:spPr>
          <a:xfrm>
            <a:off x="6633337" y="6524418"/>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Vani" panose="02040502050405020303" pitchFamily="18" charset="0"/>
                <a:sym typeface="Quattrocento Sans"/>
              </a:rPr>
              <a:t>H</a:t>
            </a:r>
            <a:endParaRPr sz="1400" b="0" i="0" u="none" strike="noStrike" cap="none">
              <a:solidFill>
                <a:srgbClr val="000000"/>
              </a:solidFill>
              <a:sym typeface="Arial"/>
            </a:endParaRPr>
          </a:p>
        </p:txBody>
      </p:sp>
      <p:sp>
        <p:nvSpPr>
          <p:cNvPr id="40" name="Google Shape;40;p1"/>
          <p:cNvSpPr/>
          <p:nvPr/>
        </p:nvSpPr>
        <p:spPr>
          <a:xfrm>
            <a:off x="7028512" y="6513711"/>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Vani" panose="02040502050405020303" pitchFamily="18" charset="0"/>
                <a:sym typeface="Quattrocento Sans"/>
              </a:rPr>
              <a:t>D</a:t>
            </a:r>
            <a:endParaRPr sz="1400" b="0" i="0" u="none" strike="noStrike" cap="none">
              <a:solidFill>
                <a:srgbClr val="000000"/>
              </a:solidFill>
              <a:sym typeface="Arial"/>
            </a:endParaRPr>
          </a:p>
        </p:txBody>
      </p:sp>
      <p:sp>
        <p:nvSpPr>
          <p:cNvPr id="41" name="Google Shape;41;p1"/>
          <p:cNvSpPr/>
          <p:nvPr/>
        </p:nvSpPr>
        <p:spPr>
          <a:xfrm>
            <a:off x="7452320" y="6503004"/>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Vani" panose="02040502050405020303" pitchFamily="18" charset="0"/>
                <a:sym typeface="Quattrocento Sans"/>
              </a:rPr>
              <a:t>E</a:t>
            </a:r>
            <a:endParaRPr sz="1400" b="0" i="0" u="none" strike="noStrike" cap="none">
              <a:solidFill>
                <a:srgbClr val="000000"/>
              </a:solidFill>
              <a:sym typeface="Arial"/>
            </a:endParaRPr>
          </a:p>
        </p:txBody>
      </p:sp>
      <p:sp>
        <p:nvSpPr>
          <p:cNvPr id="42" name="Google Shape;42;p1"/>
          <p:cNvSpPr/>
          <p:nvPr/>
        </p:nvSpPr>
        <p:spPr>
          <a:xfrm>
            <a:off x="7846662" y="6508081"/>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Vani" panose="02040502050405020303" pitchFamily="18" charset="0"/>
                <a:sym typeface="Quattrocento Sans"/>
              </a:rPr>
              <a:t>I</a:t>
            </a:r>
            <a:endParaRPr sz="1400" b="0" i="0" u="none" strike="noStrike" cap="none">
              <a:solidFill>
                <a:srgbClr val="000000"/>
              </a:solidFill>
              <a:sym typeface="Arial"/>
            </a:endParaRPr>
          </a:p>
        </p:txBody>
      </p:sp>
      <p:sp>
        <p:nvSpPr>
          <p:cNvPr id="43" name="Google Shape;43;p1"/>
          <p:cNvSpPr/>
          <p:nvPr/>
        </p:nvSpPr>
        <p:spPr>
          <a:xfrm>
            <a:off x="8245692" y="6503004"/>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Vani" panose="02040502050405020303" pitchFamily="18" charset="0"/>
                <a:sym typeface="Quattrocento Sans"/>
              </a:rPr>
              <a:t>P</a:t>
            </a:r>
            <a:endParaRPr sz="1400" b="0" i="0" u="none" strike="noStrike" cap="none">
              <a:solidFill>
                <a:srgbClr val="000000"/>
              </a:solidFill>
              <a:sym typeface="Arial"/>
            </a:endParaRPr>
          </a:p>
        </p:txBody>
      </p:sp>
      <p:sp>
        <p:nvSpPr>
          <p:cNvPr id="44" name="Google Shape;44;p1"/>
          <p:cNvSpPr/>
          <p:nvPr/>
        </p:nvSpPr>
        <p:spPr>
          <a:xfrm>
            <a:off x="8099130" y="707128"/>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Vani" panose="02040502050405020303" pitchFamily="18" charset="0"/>
                <a:sym typeface="Quattrocento Sans"/>
              </a:rPr>
              <a:t>H</a:t>
            </a:r>
            <a:endParaRPr sz="1400" b="0" i="0" u="none" strike="noStrike" cap="none">
              <a:solidFill>
                <a:srgbClr val="000000"/>
              </a:solidFill>
              <a:sym typeface="Arial"/>
            </a:endParaRPr>
          </a:p>
        </p:txBody>
      </p:sp>
      <p:sp>
        <p:nvSpPr>
          <p:cNvPr id="45" name="Google Shape;45;p1"/>
          <p:cNvSpPr/>
          <p:nvPr/>
        </p:nvSpPr>
        <p:spPr>
          <a:xfrm>
            <a:off x="56324" y="56593"/>
            <a:ext cx="7724912" cy="1137079"/>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sym typeface="Arial"/>
            </a:endParaRPr>
          </a:p>
        </p:txBody>
      </p:sp>
      <p:sp>
        <p:nvSpPr>
          <p:cNvPr id="46" name="Google Shape;46;p1"/>
          <p:cNvSpPr txBox="1">
            <a:spLocks noGrp="1"/>
          </p:cNvSpPr>
          <p:nvPr>
            <p:ph type="title"/>
          </p:nvPr>
        </p:nvSpPr>
        <p:spPr>
          <a:xfrm>
            <a:off x="184140" y="189590"/>
            <a:ext cx="8793596" cy="307777"/>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r>
              <a:rPr lang="en-AU" sz="2000" dirty="0">
                <a:solidFill>
                  <a:srgbClr val="29748D"/>
                </a:solidFill>
                <a:latin typeface="Quattrocento Sans"/>
                <a:ea typeface="Quattrocento Sans"/>
                <a:cs typeface="Vani" panose="02040502050405020303" pitchFamily="18" charset="0"/>
                <a:sym typeface="Quattrocento Sans"/>
              </a:rPr>
              <a:t>Problem Statement Worksheet (Hypothesis Formation)</a:t>
            </a:r>
            <a:endParaRPr dirty="0"/>
          </a:p>
        </p:txBody>
      </p:sp>
      <p:sp>
        <p:nvSpPr>
          <p:cNvPr id="47" name="Google Shape;47;p1"/>
          <p:cNvSpPr txBox="1"/>
          <p:nvPr/>
        </p:nvSpPr>
        <p:spPr>
          <a:xfrm>
            <a:off x="4607126" y="3547600"/>
            <a:ext cx="4324418" cy="108106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AutoNum type="arabicParenR"/>
            </a:pPr>
            <a:r>
              <a:rPr lang="en-US" sz="1400" b="0" i="0" u="none" strike="noStrike" cap="none" dirty="0">
                <a:solidFill>
                  <a:srgbClr val="000000"/>
                </a:solidFill>
                <a:sym typeface="Arial"/>
              </a:rPr>
              <a:t>Director of Operations:- Jimmy Blackburn,</a:t>
            </a:r>
          </a:p>
          <a:p>
            <a:pPr marL="342900" marR="0" lvl="0" indent="-342900" algn="l" rtl="0">
              <a:lnSpc>
                <a:spcPct val="100000"/>
              </a:lnSpc>
              <a:spcBef>
                <a:spcPts val="0"/>
              </a:spcBef>
              <a:spcAft>
                <a:spcPts val="0"/>
              </a:spcAft>
              <a:buAutoNum type="arabicParenR"/>
            </a:pPr>
            <a:endParaRPr lang="en-US" sz="1400" b="0" i="0" u="none" strike="noStrike" cap="none" dirty="0">
              <a:solidFill>
                <a:srgbClr val="000000"/>
              </a:solidFill>
              <a:sym typeface="Arial"/>
            </a:endParaRPr>
          </a:p>
          <a:p>
            <a:pPr marL="342900" marR="0" lvl="0" indent="-342900" algn="l" rtl="0">
              <a:lnSpc>
                <a:spcPct val="100000"/>
              </a:lnSpc>
              <a:spcBef>
                <a:spcPts val="0"/>
              </a:spcBef>
              <a:spcAft>
                <a:spcPts val="0"/>
              </a:spcAft>
              <a:buAutoNum type="arabicParenR"/>
            </a:pPr>
            <a:r>
              <a:rPr lang="en-US" dirty="0"/>
              <a:t>Database Manager:- Alesha Eisen,</a:t>
            </a:r>
          </a:p>
        </p:txBody>
      </p:sp>
      <p:sp>
        <p:nvSpPr>
          <p:cNvPr id="48" name="Google Shape;48;p1"/>
          <p:cNvSpPr txBox="1"/>
          <p:nvPr/>
        </p:nvSpPr>
        <p:spPr>
          <a:xfrm>
            <a:off x="184140" y="540901"/>
            <a:ext cx="8584648" cy="492443"/>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n-US" sz="1400" b="1" i="0" u="none" strike="noStrike" cap="none" dirty="0">
                <a:solidFill>
                  <a:srgbClr val="000000"/>
                </a:solidFill>
                <a:sym typeface="Arial"/>
              </a:rPr>
              <a:t>How might Big Mountain Resort enhance its ticket value proposition against competitors while ensuring full recovery of this season’s additional chain-lift operation costs though strategic pricing adjustments, operational efficiencies, and innovative service packaging?</a:t>
            </a:r>
            <a:endParaRPr sz="1400" b="1" i="0" u="none" strike="noStrike" cap="none" dirty="0">
              <a:solidFill>
                <a:srgbClr val="000000"/>
              </a:solidFill>
              <a:sym typeface="Arial"/>
            </a:endParaRPr>
          </a:p>
        </p:txBody>
      </p:sp>
    </p:spTree>
  </p:cSld>
  <p:clrMapOvr>
    <a:masterClrMapping/>
  </p:clrMapOvr>
</p:sld>
</file>

<file path=ppt/theme/theme1.xml><?xml version="1.0" encoding="utf-8"?>
<a:theme xmlns:a="http://schemas.openxmlformats.org/drawingml/2006/main" name="Synergy_CF_YNR002">
  <a:themeElements>
    <a:clrScheme name="Current">
      <a:dk1>
        <a:srgbClr val="002C46"/>
      </a:dk1>
      <a:lt1>
        <a:srgbClr val="FFFFFF"/>
      </a:lt1>
      <a:dk2>
        <a:srgbClr val="FBC14E"/>
      </a:dk2>
      <a:lt2>
        <a:srgbClr val="879C16"/>
      </a:lt2>
      <a:accent1>
        <a:srgbClr val="99AABE"/>
      </a:accent1>
      <a:accent2>
        <a:srgbClr val="406085"/>
      </a:accent2>
      <a:accent3>
        <a:srgbClr val="002C46"/>
      </a:accent3>
      <a:accent4>
        <a:srgbClr val="FBC14E"/>
      </a:accent4>
      <a:accent5>
        <a:srgbClr val="379BBD"/>
      </a:accent5>
      <a:accent6>
        <a:srgbClr val="808080"/>
      </a:accent6>
      <a:hlink>
        <a:srgbClr val="002C46"/>
      </a:hlink>
      <a:folHlink>
        <a:srgbClr val="FBC1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600</Words>
  <Application>Microsoft Office PowerPoint</Application>
  <PresentationFormat>On-screen Show (4:3)</PresentationFormat>
  <Paragraphs>46</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Quattrocento Sans</vt:lpstr>
      <vt:lpstr>Synergy_CF_YNR002</vt:lpstr>
      <vt:lpstr>Problem Statement Worksheet (Hypothesis Formation)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Christopher H</dc:creator>
  <cp:lastModifiedBy>Rohith Reddy Shiripereddy</cp:lastModifiedBy>
  <cp:revision>2</cp:revision>
  <dcterms:modified xsi:type="dcterms:W3CDTF">2025-11-13T18:42:49Z</dcterms:modified>
</cp:coreProperties>
</file>